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2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7" r:id="rId18"/>
    <p:sldId id="268" r:id="rId19"/>
    <p:sldId id="26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0E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051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6427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028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97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683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439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371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202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567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84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7412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2342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4278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301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451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7880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2463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5598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94910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5630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709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08699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42175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9243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07856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26262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60053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4357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0585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7262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89245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39124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98683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02551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8263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401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0321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07890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41252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0087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98850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49274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37077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00136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42247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29520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19682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69518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9260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9884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80899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298622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30552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2908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15379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4407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7512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46668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039514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98568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23627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568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701492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19344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02856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347207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99494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411670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005151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598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268365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366401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98494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369679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950501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333664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309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188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70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754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519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9880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213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0B568-DAC4-4737-B5E5-9CEC36A9F8C3}" type="datetimeFigureOut">
              <a:rPr lang="es-ES" smtClean="0"/>
              <a:t>26/04/2019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F7412-6B09-4311-8644-93B8672328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083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5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B28A194C-6881-4078-9E02-4A06F79375C8}"/>
              </a:ext>
            </a:extLst>
          </p:cNvPr>
          <p:cNvSpPr/>
          <p:nvPr/>
        </p:nvSpPr>
        <p:spPr>
          <a:xfrm>
            <a:off x="0" y="6137274"/>
            <a:ext cx="9144000" cy="7252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00E8FCC-DE60-44DB-A90A-3CE621891CC0}"/>
              </a:ext>
            </a:extLst>
          </p:cNvPr>
          <p:cNvSpPr/>
          <p:nvPr/>
        </p:nvSpPr>
        <p:spPr>
          <a:xfrm>
            <a:off x="0" y="795597"/>
            <a:ext cx="9144000" cy="22486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9B70FE-4B1F-4BED-9346-E84E025DB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03" y="795597"/>
            <a:ext cx="7786396" cy="207181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Desarrollo de una </a:t>
            </a:r>
            <a:r>
              <a:rPr lang="en-US" sz="4400" b="1" dirty="0" err="1">
                <a:solidFill>
                  <a:schemeClr val="bg1"/>
                </a:solidFill>
              </a:rPr>
              <a:t>interfaz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err="1">
                <a:solidFill>
                  <a:schemeClr val="bg1"/>
                </a:solidFill>
              </a:rPr>
              <a:t>gráfica</a:t>
            </a:r>
            <a:r>
              <a:rPr lang="en-US" sz="4400" b="1" dirty="0">
                <a:solidFill>
                  <a:schemeClr val="bg1"/>
                </a:solidFill>
              </a:rPr>
              <a:t> para el </a:t>
            </a:r>
            <a:r>
              <a:rPr lang="en-US" sz="4400" b="1" dirty="0" err="1">
                <a:solidFill>
                  <a:schemeClr val="bg1"/>
                </a:solidFill>
              </a:rPr>
              <a:t>problema</a:t>
            </a:r>
            <a:r>
              <a:rPr lang="en-US" sz="4400" b="1" dirty="0">
                <a:solidFill>
                  <a:schemeClr val="bg1"/>
                </a:solidFill>
              </a:rPr>
              <a:t> de las </a:t>
            </a:r>
            <a:r>
              <a:rPr lang="en-US" sz="4400" b="1" dirty="0" err="1">
                <a:solidFill>
                  <a:schemeClr val="bg1"/>
                </a:solidFill>
              </a:rPr>
              <a:t>cuatro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err="1">
                <a:solidFill>
                  <a:schemeClr val="bg1"/>
                </a:solidFill>
              </a:rPr>
              <a:t>reinas</a:t>
            </a:r>
            <a:r>
              <a:rPr lang="en-US" sz="4400" b="1" dirty="0">
                <a:solidFill>
                  <a:schemeClr val="bg1"/>
                </a:solidFill>
              </a:rPr>
              <a:t> con </a:t>
            </a:r>
            <a:r>
              <a:rPr lang="en-US" sz="4400" b="1" i="1" dirty="0">
                <a:solidFill>
                  <a:schemeClr val="bg1"/>
                </a:solidFill>
              </a:rPr>
              <a:t>SWI-Prolog</a:t>
            </a:r>
            <a:endParaRPr lang="es-ES" sz="4400" b="1" i="1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36D117-9CCD-43DC-941A-D7A9CA637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4214" y="3358859"/>
            <a:ext cx="3755571" cy="909734"/>
          </a:xfrm>
          <a:prstGeom prst="roundRect">
            <a:avLst>
              <a:gd name="adj" fmla="val 34103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lang="en-US" dirty="0"/>
              <a:t>Alberto Velasco Mata</a:t>
            </a:r>
          </a:p>
          <a:p>
            <a:r>
              <a:rPr lang="en-US" dirty="0"/>
              <a:t>Diego Pedregal Hidalgo</a:t>
            </a:r>
            <a:endParaRPr lang="es-ES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75453E2-1107-48D5-847C-1CD4B1BBEAC2}"/>
              </a:ext>
            </a:extLst>
          </p:cNvPr>
          <p:cNvSpPr txBox="1">
            <a:spLocks/>
          </p:cNvSpPr>
          <p:nvPr/>
        </p:nvSpPr>
        <p:spPr>
          <a:xfrm>
            <a:off x="3806890" y="4381793"/>
            <a:ext cx="1530220" cy="354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i="1" dirty="0"/>
              <a:t>Grupo ET2</a:t>
            </a:r>
            <a:endParaRPr lang="es-ES" sz="1800" i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3FA53C6-4B27-46BF-AE5B-672141E4A7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64" r="50753"/>
          <a:stretch/>
        </p:blipFill>
        <p:spPr>
          <a:xfrm>
            <a:off x="7028363" y="4118499"/>
            <a:ext cx="1436836" cy="1277968"/>
          </a:xfrm>
          <a:prstGeom prst="roundRect">
            <a:avLst>
              <a:gd name="adj" fmla="val 12252"/>
            </a:avLst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D91B597-D430-42C3-9997-D17B0D19547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" y="6137275"/>
            <a:ext cx="2274570" cy="72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Resultado de imagen de queen chess">
            <a:extLst>
              <a:ext uri="{FF2B5EF4-FFF2-40B4-BE49-F238E27FC236}">
                <a16:creationId xmlns:a16="http://schemas.microsoft.com/office/drawing/2014/main" id="{34DD3305-B8C7-4ED2-A1A4-ABAE0C9EFC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9" t="20143" r="50000" b="21308"/>
          <a:stretch/>
        </p:blipFill>
        <p:spPr bwMode="auto">
          <a:xfrm>
            <a:off x="862032" y="3739397"/>
            <a:ext cx="976098" cy="193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528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5047CC4D-51EB-412C-8C5A-AB06B6B4C5EF}"/>
              </a:ext>
            </a:extLst>
          </p:cNvPr>
          <p:cNvSpPr/>
          <p:nvPr/>
        </p:nvSpPr>
        <p:spPr>
          <a:xfrm>
            <a:off x="0" y="-709"/>
            <a:ext cx="9144000" cy="12204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D31A42-49DB-4060-ACE4-B81EE890B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4" y="12288"/>
            <a:ext cx="7420599" cy="1031216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Definición</a:t>
            </a:r>
            <a:r>
              <a:rPr lang="en-US" sz="4800" b="1" dirty="0">
                <a:solidFill>
                  <a:schemeClr val="bg1"/>
                </a:solidFill>
                <a:latin typeface="Arial Black" panose="020B0A04020102020204" pitchFamily="34" charset="0"/>
              </a:rPr>
              <a:t> del </a:t>
            </a:r>
            <a:r>
              <a:rPr lang="en-US" sz="48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problema</a:t>
            </a:r>
            <a:endParaRPr lang="es-ES" sz="4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07803A-4E99-444E-94F7-8785CDDF5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85115" y="1884045"/>
            <a:ext cx="2456751" cy="2853308"/>
          </a:xfrm>
          <a:custGeom>
            <a:avLst/>
            <a:gdLst>
              <a:gd name="connsiteX0" fmla="*/ 3275668 w 3275668"/>
              <a:gd name="connsiteY0" fmla="*/ 2853308 h 2853308"/>
              <a:gd name="connsiteX1" fmla="*/ 655 w 3275668"/>
              <a:gd name="connsiteY1" fmla="*/ 2853308 h 2853308"/>
              <a:gd name="connsiteX2" fmla="*/ 0 w 3275668"/>
              <a:gd name="connsiteY2" fmla="*/ 2467565 h 2853308"/>
              <a:gd name="connsiteX3" fmla="*/ 2869894 w 3275668"/>
              <a:gd name="connsiteY3" fmla="*/ 2468888 h 2853308"/>
              <a:gd name="connsiteX4" fmla="*/ 2869894 w 3275668"/>
              <a:gd name="connsiteY4" fmla="*/ 0 h 2853308"/>
              <a:gd name="connsiteX5" fmla="*/ 3275668 w 3275668"/>
              <a:gd name="connsiteY5" fmla="*/ 0 h 285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5668" h="2853308">
                <a:moveTo>
                  <a:pt x="3275668" y="2853308"/>
                </a:moveTo>
                <a:lnTo>
                  <a:pt x="655" y="2853308"/>
                </a:lnTo>
                <a:cubicBezTo>
                  <a:pt x="-655" y="2720171"/>
                  <a:pt x="1310" y="2600702"/>
                  <a:pt x="0" y="2467565"/>
                </a:cubicBezTo>
                <a:lnTo>
                  <a:pt x="2869894" y="2468888"/>
                </a:lnTo>
                <a:lnTo>
                  <a:pt x="2869894" y="0"/>
                </a:lnTo>
                <a:lnTo>
                  <a:pt x="3275668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989BE6A-C309-418E-8ADD-1616A9805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041866" y="3222529"/>
            <a:ext cx="2432214" cy="2828156"/>
          </a:xfrm>
          <a:custGeom>
            <a:avLst/>
            <a:gdLst>
              <a:gd name="connsiteX0" fmla="*/ 2837178 w 3242952"/>
              <a:gd name="connsiteY0" fmla="*/ 0 h 2828156"/>
              <a:gd name="connsiteX1" fmla="*/ 3242952 w 3242952"/>
              <a:gd name="connsiteY1" fmla="*/ 0 h 2828156"/>
              <a:gd name="connsiteX2" fmla="*/ 3242952 w 3242952"/>
              <a:gd name="connsiteY2" fmla="*/ 2828156 h 2828156"/>
              <a:gd name="connsiteX3" fmla="*/ 0 w 3242952"/>
              <a:gd name="connsiteY3" fmla="*/ 2828156 h 2828156"/>
              <a:gd name="connsiteX4" fmla="*/ 0 w 3242952"/>
              <a:gd name="connsiteY4" fmla="*/ 2442859 h 2828156"/>
              <a:gd name="connsiteX5" fmla="*/ 2837178 w 3242952"/>
              <a:gd name="connsiteY5" fmla="*/ 2443295 h 282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2952" h="2828156">
                <a:moveTo>
                  <a:pt x="2837178" y="0"/>
                </a:moveTo>
                <a:lnTo>
                  <a:pt x="3242952" y="0"/>
                </a:lnTo>
                <a:lnTo>
                  <a:pt x="3242952" y="2828156"/>
                </a:lnTo>
                <a:lnTo>
                  <a:pt x="0" y="2828156"/>
                </a:lnTo>
                <a:lnTo>
                  <a:pt x="0" y="2442859"/>
                </a:lnTo>
                <a:lnTo>
                  <a:pt x="2837178" y="2443295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5AF0E2E-2A52-4483-B0ED-CFAC4D24C8DB}"/>
              </a:ext>
            </a:extLst>
          </p:cNvPr>
          <p:cNvSpPr/>
          <p:nvPr/>
        </p:nvSpPr>
        <p:spPr>
          <a:xfrm>
            <a:off x="0" y="1219696"/>
            <a:ext cx="9144000" cy="5638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2" descr="Resultado de imagen de 4 queens problem">
            <a:extLst>
              <a:ext uri="{FF2B5EF4-FFF2-40B4-BE49-F238E27FC236}">
                <a16:creationId xmlns:a16="http://schemas.microsoft.com/office/drawing/2014/main" id="{9D722F8D-8061-49B0-B944-AC7B4D6870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4" t="4552" r="4776" b="13727"/>
          <a:stretch/>
        </p:blipFill>
        <p:spPr bwMode="auto">
          <a:xfrm>
            <a:off x="3110457" y="2415214"/>
            <a:ext cx="1826560" cy="1807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439EBA64-7665-4AF6-A8B6-2E65183DA733}"/>
              </a:ext>
            </a:extLst>
          </p:cNvPr>
          <p:cNvGrpSpPr/>
          <p:nvPr/>
        </p:nvGrpSpPr>
        <p:grpSpPr>
          <a:xfrm>
            <a:off x="678636" y="2418755"/>
            <a:ext cx="1826560" cy="1813645"/>
            <a:chOff x="3470988" y="1673195"/>
            <a:chExt cx="2202024" cy="2186454"/>
          </a:xfrm>
        </p:grpSpPr>
        <p:pic>
          <p:nvPicPr>
            <p:cNvPr id="1026" name="Picture 2" descr="Resultado de imagen de 4 queens problem">
              <a:extLst>
                <a:ext uri="{FF2B5EF4-FFF2-40B4-BE49-F238E27FC236}">
                  <a16:creationId xmlns:a16="http://schemas.microsoft.com/office/drawing/2014/main" id="{1591232B-9391-4396-8D62-0A18C3C249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9" t="4143" r="4813" b="13582"/>
            <a:stretch/>
          </p:blipFill>
          <p:spPr bwMode="auto">
            <a:xfrm>
              <a:off x="3470988" y="1673195"/>
              <a:ext cx="2202024" cy="2186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0E796A75-97D0-41F2-8C67-5531536233CE}"/>
                </a:ext>
              </a:extLst>
            </p:cNvPr>
            <p:cNvSpPr/>
            <p:nvPr/>
          </p:nvSpPr>
          <p:spPr>
            <a:xfrm>
              <a:off x="4601702" y="1751382"/>
              <a:ext cx="484648" cy="4600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4F16DAA-963B-4FD9-A1C7-8D05B5A1B95B}"/>
                </a:ext>
              </a:extLst>
            </p:cNvPr>
            <p:cNvSpPr/>
            <p:nvPr/>
          </p:nvSpPr>
          <p:spPr>
            <a:xfrm>
              <a:off x="4087352" y="3310699"/>
              <a:ext cx="484648" cy="4600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375B66F-CE5E-44DF-9A4E-7806042DBF5D}"/>
                </a:ext>
              </a:extLst>
            </p:cNvPr>
            <p:cNvSpPr/>
            <p:nvPr/>
          </p:nvSpPr>
          <p:spPr>
            <a:xfrm>
              <a:off x="5131502" y="2805297"/>
              <a:ext cx="484648" cy="460058"/>
            </a:xfrm>
            <a:prstGeom prst="rect">
              <a:avLst/>
            </a:prstGeom>
            <a:solidFill>
              <a:srgbClr val="E0E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dirty="0"/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A0C04802-5C07-4191-9059-01A511D78A3F}"/>
                </a:ext>
              </a:extLst>
            </p:cNvPr>
            <p:cNvCxnSpPr>
              <a:cxnSpLocks/>
            </p:cNvCxnSpPr>
            <p:nvPr/>
          </p:nvCxnSpPr>
          <p:spPr>
            <a:xfrm>
              <a:off x="3789680" y="1711960"/>
              <a:ext cx="0" cy="209804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03A71027-7B16-440D-84AE-F0E0542FF0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9490" y="1714470"/>
              <a:ext cx="1044000" cy="10440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9A6B6B61-2F45-4B5A-8378-83193E00FC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39490" y="2251159"/>
              <a:ext cx="1565910" cy="155884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BF5C02EE-5C6F-4453-8B58-D4A50FC8696A}"/>
                </a:ext>
              </a:extLst>
            </p:cNvPr>
            <p:cNvCxnSpPr>
              <a:cxnSpLocks/>
            </p:cNvCxnSpPr>
            <p:nvPr/>
          </p:nvCxnSpPr>
          <p:spPr>
            <a:xfrm>
              <a:off x="3539490" y="2494280"/>
              <a:ext cx="208800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" name="Imagen 3" descr="Imagen que contiene objeto&#10;&#10;Descripción generada automáticamente">
            <a:extLst>
              <a:ext uri="{FF2B5EF4-FFF2-40B4-BE49-F238E27FC236}">
                <a16:creationId xmlns:a16="http://schemas.microsoft.com/office/drawing/2014/main" id="{7AD7F6EF-C3C7-4676-A016-B05B7D60A3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09" t="8597" r="55405" b="6940"/>
          <a:stretch/>
        </p:blipFill>
        <p:spPr>
          <a:xfrm>
            <a:off x="5837058" y="2081409"/>
            <a:ext cx="2346785" cy="2363972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1B859B0E-AC69-417A-85E7-8A851588CF03}"/>
              </a:ext>
            </a:extLst>
          </p:cNvPr>
          <p:cNvSpPr txBox="1"/>
          <p:nvPr/>
        </p:nvSpPr>
        <p:spPr>
          <a:xfrm>
            <a:off x="690731" y="1561855"/>
            <a:ext cx="7600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/>
              <a:t>Problema de las 4 reinas           </a:t>
            </a:r>
            <a:r>
              <a:rPr lang="en-US" sz="2400" dirty="0">
                <a:sym typeface="Wingdings" panose="05000000000000000000" pitchFamily="2" charset="2"/>
              </a:rPr>
              <a:t>             </a:t>
            </a:r>
            <a:r>
              <a:rPr lang="en-US" sz="2400" i="1" dirty="0">
                <a:sym typeface="Wingdings" panose="05000000000000000000" pitchFamily="2" charset="2"/>
              </a:rPr>
              <a:t>N </a:t>
            </a:r>
            <a:r>
              <a:rPr lang="en-US" sz="2400" dirty="0" err="1">
                <a:sym typeface="Wingdings" panose="05000000000000000000" pitchFamily="2" charset="2"/>
              </a:rPr>
              <a:t>reinas</a:t>
            </a:r>
            <a:endParaRPr lang="es-ES" sz="24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E527B4F1-96E1-4A52-8A3C-7B6EB73AE0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064"/>
          <a:stretch/>
        </p:blipFill>
        <p:spPr>
          <a:xfrm>
            <a:off x="3181816" y="5307271"/>
            <a:ext cx="2618801" cy="1147071"/>
          </a:xfrm>
          <a:prstGeom prst="roundRect">
            <a:avLst>
              <a:gd name="adj" fmla="val 12252"/>
            </a:avLst>
          </a:prstGeom>
        </p:spPr>
      </p:pic>
    </p:spTree>
    <p:extLst>
      <p:ext uri="{BB962C8B-B14F-4D97-AF65-F5344CB8AC3E}">
        <p14:creationId xmlns:p14="http://schemas.microsoft.com/office/powerpoint/2010/main" val="379261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5B0B40-B911-4C0E-93DC-1281B71FA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8425"/>
            <a:ext cx="799398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i="1" dirty="0"/>
              <a:t>new/2</a:t>
            </a:r>
          </a:p>
          <a:p>
            <a:pPr lvl="1"/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objeto</a:t>
            </a:r>
            <a:endParaRPr lang="en-US" dirty="0"/>
          </a:p>
          <a:p>
            <a:pPr lvl="1"/>
            <a:r>
              <a:rPr lang="en-US" dirty="0"/>
              <a:t>Primer </a:t>
            </a:r>
            <a:r>
              <a:rPr lang="en-US" dirty="0" err="1"/>
              <a:t>argumento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referencia</a:t>
            </a:r>
            <a:r>
              <a:rPr lang="en-US" dirty="0">
                <a:sym typeface="Wingdings" panose="05000000000000000000" pitchFamily="2" charset="2"/>
              </a:rPr>
              <a:t> del </a:t>
            </a:r>
            <a:r>
              <a:rPr lang="en-US" dirty="0" err="1">
                <a:sym typeface="Wingdings" panose="05000000000000000000" pitchFamily="2" charset="2"/>
              </a:rPr>
              <a:t>objeto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Segundo </a:t>
            </a:r>
            <a:r>
              <a:rPr lang="en-US" dirty="0" err="1">
                <a:sym typeface="Wingdings" panose="05000000000000000000" pitchFamily="2" charset="2"/>
              </a:rPr>
              <a:t>argumento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i="1" dirty="0" err="1">
                <a:sym typeface="Wingdings" panose="05000000000000000000" pitchFamily="2" charset="2"/>
              </a:rPr>
              <a:t>elemento</a:t>
            </a:r>
            <a:r>
              <a:rPr lang="en-US" i="1" dirty="0">
                <a:sym typeface="Wingdings" panose="05000000000000000000" pitchFamily="2" charset="2"/>
              </a:rPr>
              <a:t>(arg1, arg2, …)</a:t>
            </a:r>
          </a:p>
          <a:p>
            <a:pPr lvl="1"/>
            <a:endParaRPr lang="en-US" i="1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sz="600" i="1" dirty="0"/>
          </a:p>
          <a:p>
            <a:pPr marL="0" indent="0">
              <a:buNone/>
            </a:pPr>
            <a:r>
              <a:rPr lang="en-US" i="1" dirty="0"/>
              <a:t>send/2</a:t>
            </a:r>
          </a:p>
          <a:p>
            <a:pPr lvl="1"/>
            <a:r>
              <a:rPr lang="es-ES" dirty="0"/>
              <a:t>Modifica estados de objetos</a:t>
            </a:r>
          </a:p>
          <a:p>
            <a:pPr lvl="1"/>
            <a:r>
              <a:rPr lang="es-ES" dirty="0"/>
              <a:t>Primer argumento </a:t>
            </a:r>
            <a:r>
              <a:rPr lang="es-ES" dirty="0">
                <a:sym typeface="Wingdings" panose="05000000000000000000" pitchFamily="2" charset="2"/>
              </a:rPr>
              <a:t> referencia del objeto</a:t>
            </a:r>
          </a:p>
          <a:p>
            <a:pPr lvl="1"/>
            <a:r>
              <a:rPr lang="es-ES" dirty="0">
                <a:sym typeface="Wingdings" panose="05000000000000000000" pitchFamily="2" charset="2"/>
              </a:rPr>
              <a:t>Segundo argumento  método a invocar sobre el objeto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9F7554-45B6-47AA-A87E-C9C41F566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31" y="3131279"/>
            <a:ext cx="7916421" cy="710805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3F85E111-5726-4D94-9E0D-AFE271AA42C8}"/>
              </a:ext>
            </a:extLst>
          </p:cNvPr>
          <p:cNvGrpSpPr/>
          <p:nvPr/>
        </p:nvGrpSpPr>
        <p:grpSpPr>
          <a:xfrm>
            <a:off x="1514310" y="5685963"/>
            <a:ext cx="10437057" cy="650728"/>
            <a:chOff x="1514312" y="5902000"/>
            <a:chExt cx="5409524" cy="353666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894197D-5896-493D-B437-091D007AF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4312" y="5902000"/>
              <a:ext cx="5409524" cy="171429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8120DDE3-263F-47C8-9085-B0AD32F52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4312" y="6084237"/>
              <a:ext cx="5409524" cy="171429"/>
            </a:xfrm>
            <a:prstGeom prst="rect">
              <a:avLst/>
            </a:prstGeom>
          </p:spPr>
        </p:pic>
      </p:grpSp>
      <p:sp>
        <p:nvSpPr>
          <p:cNvPr id="8" name="Rectángulo 7">
            <a:extLst>
              <a:ext uri="{FF2B5EF4-FFF2-40B4-BE49-F238E27FC236}">
                <a16:creationId xmlns:a16="http://schemas.microsoft.com/office/drawing/2014/main" id="{9544B22F-B44A-41B8-A91A-12E15BA4D04B}"/>
              </a:ext>
            </a:extLst>
          </p:cNvPr>
          <p:cNvSpPr/>
          <p:nvPr/>
        </p:nvSpPr>
        <p:spPr>
          <a:xfrm>
            <a:off x="0" y="0"/>
            <a:ext cx="9144000" cy="12204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597ED85-F05C-4D92-B695-2BD54E0CCB9A}"/>
              </a:ext>
            </a:extLst>
          </p:cNvPr>
          <p:cNvSpPr txBox="1">
            <a:spLocks/>
          </p:cNvSpPr>
          <p:nvPr/>
        </p:nvSpPr>
        <p:spPr>
          <a:xfrm>
            <a:off x="871104" y="12997"/>
            <a:ext cx="7420599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chemeClr val="bg1"/>
                </a:solidFill>
                <a:latin typeface="Arial Black" panose="020B0A04020102020204" pitchFamily="34" charset="0"/>
              </a:rPr>
              <a:t>XPCE</a:t>
            </a:r>
            <a:endParaRPr lang="es-ES" sz="4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22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2FC9F5-13BB-43B5-9109-91CA988FA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2699"/>
            <a:ext cx="7993982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get/3</a:t>
            </a:r>
          </a:p>
          <a:p>
            <a:pPr lvl="1"/>
            <a:r>
              <a:rPr lang="en-US" dirty="0" err="1"/>
              <a:t>Obtener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de </a:t>
            </a:r>
            <a:r>
              <a:rPr lang="en-US" dirty="0" err="1"/>
              <a:t>objetos</a:t>
            </a:r>
            <a:endParaRPr lang="en-US" dirty="0"/>
          </a:p>
          <a:p>
            <a:pPr lvl="1"/>
            <a:r>
              <a:rPr lang="en-US" dirty="0"/>
              <a:t>Primer </a:t>
            </a:r>
            <a:r>
              <a:rPr lang="en-US" dirty="0" err="1"/>
              <a:t>argumento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s-ES" dirty="0">
                <a:sym typeface="Wingdings" panose="05000000000000000000" pitchFamily="2" charset="2"/>
              </a:rPr>
              <a:t>referencia del objeto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Segundo </a:t>
            </a:r>
            <a:r>
              <a:rPr lang="en-US" dirty="0" err="1">
                <a:sym typeface="Wingdings" panose="05000000000000000000" pitchFamily="2" charset="2"/>
              </a:rPr>
              <a:t>argumento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s-ES" dirty="0">
                <a:sym typeface="Wingdings" panose="05000000000000000000" pitchFamily="2" charset="2"/>
              </a:rPr>
              <a:t>método a invocar sobre el objeto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Tercer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argumento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unificación</a:t>
            </a:r>
            <a:r>
              <a:rPr lang="en-US" dirty="0">
                <a:sym typeface="Wingdings" panose="05000000000000000000" pitchFamily="2" charset="2"/>
              </a:rPr>
              <a:t> con valor de </a:t>
            </a:r>
            <a:r>
              <a:rPr lang="en-US" dirty="0" err="1">
                <a:sym typeface="Wingdings" panose="05000000000000000000" pitchFamily="2" charset="2"/>
              </a:rPr>
              <a:t>retorno</a:t>
            </a: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free/1</a:t>
            </a:r>
            <a:endParaRPr lang="es-ES" i="1" dirty="0"/>
          </a:p>
          <a:p>
            <a:pPr lvl="1"/>
            <a:r>
              <a:rPr lang="es-ES" dirty="0"/>
              <a:t>Eliminar objetos</a:t>
            </a:r>
          </a:p>
          <a:p>
            <a:pPr lvl="1"/>
            <a:r>
              <a:rPr lang="en-US" dirty="0" err="1"/>
              <a:t>Argumento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referencia</a:t>
            </a:r>
            <a:r>
              <a:rPr lang="en-US" dirty="0">
                <a:sym typeface="Wingdings" panose="05000000000000000000" pitchFamily="2" charset="2"/>
              </a:rPr>
              <a:t> del </a:t>
            </a:r>
            <a:r>
              <a:rPr lang="en-US" dirty="0" err="1">
                <a:sym typeface="Wingdings" panose="05000000000000000000" pitchFamily="2" charset="2"/>
              </a:rPr>
              <a:t>objeto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F0EC59-EA48-4FBD-A090-DE30427D2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22" y="3724533"/>
            <a:ext cx="9158977" cy="2902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BCA1CFC-9C6C-4706-8C88-A4D8E473ED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75207" b="6860"/>
          <a:stretch/>
        </p:blipFill>
        <p:spPr>
          <a:xfrm>
            <a:off x="2187590" y="5824037"/>
            <a:ext cx="2438051" cy="2902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52C27B4-9287-477C-93FC-E0351D7081DC}"/>
              </a:ext>
            </a:extLst>
          </p:cNvPr>
          <p:cNvSpPr/>
          <p:nvPr/>
        </p:nvSpPr>
        <p:spPr>
          <a:xfrm>
            <a:off x="0" y="0"/>
            <a:ext cx="9144000" cy="12204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1579A53-CC2A-4406-ABC6-B38721576CE8}"/>
              </a:ext>
            </a:extLst>
          </p:cNvPr>
          <p:cNvSpPr txBox="1">
            <a:spLocks/>
          </p:cNvSpPr>
          <p:nvPr/>
        </p:nvSpPr>
        <p:spPr>
          <a:xfrm>
            <a:off x="871104" y="12997"/>
            <a:ext cx="7420599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chemeClr val="bg1"/>
                </a:solidFill>
                <a:latin typeface="Arial Black" panose="020B0A04020102020204" pitchFamily="34" charset="0"/>
              </a:rPr>
              <a:t>XPCE</a:t>
            </a:r>
            <a:endParaRPr lang="es-ES" sz="4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36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F19446C-5B0C-481D-8910-0E58360114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Código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i="1" dirty="0" err="1">
                    <a:sym typeface="Wingdings" panose="05000000000000000000" pitchFamily="2" charset="2"/>
                  </a:rPr>
                  <a:t>Programación</a:t>
                </a:r>
                <a:r>
                  <a:rPr lang="en-US" i="1" dirty="0">
                    <a:sym typeface="Wingdings" panose="05000000000000000000" pitchFamily="2" charset="2"/>
                  </a:rPr>
                  <a:t> </a:t>
                </a:r>
                <a:r>
                  <a:rPr lang="en-US" i="1" dirty="0" err="1">
                    <a:sym typeface="Wingdings" panose="05000000000000000000" pitchFamily="2" charset="2"/>
                  </a:rPr>
                  <a:t>Lógica</a:t>
                </a:r>
                <a:r>
                  <a:rPr lang="en-US" i="1" dirty="0">
                    <a:sym typeface="Wingdings" panose="05000000000000000000" pitchFamily="2" charset="2"/>
                  </a:rPr>
                  <a:t>. </a:t>
                </a:r>
                <a:r>
                  <a:rPr lang="en-US" i="1" dirty="0" err="1">
                    <a:sym typeface="Wingdings" panose="05000000000000000000" pitchFamily="2" charset="2"/>
                  </a:rPr>
                  <a:t>Teoría</a:t>
                </a:r>
                <a:r>
                  <a:rPr lang="en-US" i="1" dirty="0">
                    <a:sym typeface="Wingdings" panose="05000000000000000000" pitchFamily="2" charset="2"/>
                  </a:rPr>
                  <a:t> y </a:t>
                </a:r>
                <a:r>
                  <a:rPr lang="en-US" i="1" dirty="0" err="1">
                    <a:sym typeface="Wingdings" panose="05000000000000000000" pitchFamily="2" charset="2"/>
                  </a:rPr>
                  <a:t>Práctica</a:t>
                </a:r>
                <a:endParaRPr lang="en-US" i="1" dirty="0">
                  <a:sym typeface="Wingdings" panose="05000000000000000000" pitchFamily="2" charset="2"/>
                </a:endParaRPr>
              </a:p>
              <a:p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 err="1">
                    <a:sym typeface="Wingdings" panose="05000000000000000000" pitchFamily="2" charset="2"/>
                  </a:rPr>
                  <a:t>Modificaciones</a:t>
                </a:r>
                <a:r>
                  <a:rPr lang="en-US" dirty="0">
                    <a:sym typeface="Wingdings" panose="05000000000000000000" pitchFamily="2" charset="2"/>
                  </a:rPr>
                  <a:t> 8 </a:t>
                </a:r>
                <a:r>
                  <a:rPr lang="en-US" dirty="0" err="1">
                    <a:sym typeface="Wingdings" panose="05000000000000000000" pitchFamily="2" charset="2"/>
                  </a:rPr>
                  <a:t>reinas</a:t>
                </a:r>
                <a:r>
                  <a:rPr lang="en-US" dirty="0">
                    <a:sym typeface="Wingdings" panose="05000000000000000000" pitchFamily="2" charset="2"/>
                  </a:rPr>
                  <a:t>  </a:t>
                </a:r>
                <a:r>
                  <a:rPr lang="en-US" i="1" dirty="0">
                    <a:sym typeface="Wingdings" panose="05000000000000000000" pitchFamily="2" charset="2"/>
                  </a:rPr>
                  <a:t>n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err="1">
                    <a:sym typeface="Wingdings" panose="05000000000000000000" pitchFamily="2" charset="2"/>
                  </a:rPr>
                  <a:t>reinas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s-ES" i="1" dirty="0"/>
                  <a:t>vector(</a:t>
                </a:r>
                <a:r>
                  <a:rPr lang="es-ES" i="1" dirty="0" err="1"/>
                  <a:t>Solucion</a:t>
                </a:r>
                <a:r>
                  <a:rPr lang="es-ES" i="1" dirty="0"/>
                  <a:t>)</a:t>
                </a:r>
              </a:p>
              <a:p>
                <a:pPr lvl="2"/>
                <a:r>
                  <a:rPr lang="es-ES" dirty="0"/>
                  <a:t>Añadimos </a:t>
                </a:r>
                <a:r>
                  <a:rPr lang="es-ES" i="1" dirty="0" err="1"/>
                  <a:t>creaListaC</a:t>
                </a:r>
                <a:r>
                  <a:rPr lang="es-ES" i="1" dirty="0"/>
                  <a:t>(N, L)</a:t>
                </a:r>
              </a:p>
              <a:p>
                <a:pPr lvl="1"/>
                <a:r>
                  <a:rPr lang="es-ES" i="1" dirty="0"/>
                  <a:t>generar(L, N)</a:t>
                </a:r>
              </a:p>
              <a:p>
                <a:pPr lvl="2"/>
                <a:r>
                  <a:rPr lang="es-ES" dirty="0"/>
                  <a:t>Añadimos </a:t>
                </a:r>
                <a:r>
                  <a:rPr lang="es-ES" i="1" dirty="0"/>
                  <a:t>N</a:t>
                </a:r>
              </a:p>
              <a:p>
                <a:pPr lvl="2"/>
                <a:r>
                  <a:rPr lang="es-ES" dirty="0"/>
                  <a:t>Añadimos </a:t>
                </a:r>
                <a:r>
                  <a:rPr lang="es-ES" i="1" dirty="0" err="1"/>
                  <a:t>creaLista</a:t>
                </a:r>
                <a:r>
                  <a:rPr lang="es-ES" i="1" dirty="0"/>
                  <a:t>(N, L)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s-ES" dirty="0"/>
                  <a:t> </a:t>
                </a:r>
                <a:r>
                  <a:rPr lang="es-ES" i="1" dirty="0" err="1"/>
                  <a:t>creaListaC</a:t>
                </a:r>
                <a:r>
                  <a:rPr lang="es-ES" i="1" dirty="0"/>
                  <a:t>(N, L)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F19446C-5B0C-481D-8910-0E58360114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6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1E85D369-7EF6-4152-8D47-A63B05642F69}"/>
              </a:ext>
            </a:extLst>
          </p:cNvPr>
          <p:cNvSpPr/>
          <p:nvPr/>
        </p:nvSpPr>
        <p:spPr>
          <a:xfrm>
            <a:off x="0" y="0"/>
            <a:ext cx="9144000" cy="12204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E18406D-A0E9-45A1-943E-EDB72F656210}"/>
              </a:ext>
            </a:extLst>
          </p:cNvPr>
          <p:cNvSpPr txBox="1">
            <a:spLocks/>
          </p:cNvSpPr>
          <p:nvPr/>
        </p:nvSpPr>
        <p:spPr>
          <a:xfrm>
            <a:off x="0" y="12997"/>
            <a:ext cx="9144000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Resolución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 del </a:t>
            </a:r>
            <a:r>
              <a:rPr lang="en-US" sz="3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problema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 de las n </a:t>
            </a:r>
            <a:r>
              <a:rPr lang="en-US" sz="3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reinas</a:t>
            </a:r>
            <a:endParaRPr lang="es-E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38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3">
            <a:extLst>
              <a:ext uri="{FF2B5EF4-FFF2-40B4-BE49-F238E27FC236}">
                <a16:creationId xmlns:a16="http://schemas.microsoft.com/office/drawing/2014/main" id="{EEC42251-42F4-4335-ADF1-299A8A12DE2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1689"/>
          <a:stretch/>
        </p:blipFill>
        <p:spPr>
          <a:xfrm>
            <a:off x="840357" y="2407920"/>
            <a:ext cx="7463281" cy="252226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97FF232-0DD4-4907-9372-A57CF2036E87}"/>
              </a:ext>
            </a:extLst>
          </p:cNvPr>
          <p:cNvSpPr txBox="1"/>
          <p:nvPr/>
        </p:nvSpPr>
        <p:spPr>
          <a:xfrm>
            <a:off x="840357" y="1223672"/>
            <a:ext cx="729664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Consolas" panose="020B0609020204030204" pitchFamily="49" charset="0"/>
              </a:rPr>
              <a:t>?- vector(Sol, 5).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DDA9822-8938-4C12-9C52-9F3E9F9CC2A8}"/>
              </a:ext>
            </a:extLst>
          </p:cNvPr>
          <p:cNvSpPr/>
          <p:nvPr/>
        </p:nvSpPr>
        <p:spPr>
          <a:xfrm>
            <a:off x="0" y="0"/>
            <a:ext cx="9144000" cy="62503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B5331AF-9F19-4E4E-90A9-1071C4677CA0}"/>
              </a:ext>
            </a:extLst>
          </p:cNvPr>
          <p:cNvSpPr/>
          <p:nvPr/>
        </p:nvSpPr>
        <p:spPr>
          <a:xfrm>
            <a:off x="0" y="6232967"/>
            <a:ext cx="9144000" cy="62503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1173DF4-0183-4D9D-BD1F-857C82AED67E}"/>
              </a:ext>
            </a:extLst>
          </p:cNvPr>
          <p:cNvSpPr/>
          <p:nvPr/>
        </p:nvSpPr>
        <p:spPr>
          <a:xfrm rot="5400000">
            <a:off x="-3147647" y="3147647"/>
            <a:ext cx="6858002" cy="56270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8836154-4149-42C8-9C13-8E152A933A4B}"/>
              </a:ext>
            </a:extLst>
          </p:cNvPr>
          <p:cNvSpPr/>
          <p:nvPr/>
        </p:nvSpPr>
        <p:spPr>
          <a:xfrm rot="5400000">
            <a:off x="5433640" y="3147647"/>
            <a:ext cx="6858002" cy="56270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9000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7084BD-49C1-4722-8485-1BFBB6839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810" y="1769427"/>
            <a:ext cx="5436870" cy="1994535"/>
          </a:xfrm>
          <a:solidFill>
            <a:schemeClr val="bg1">
              <a:lumMod val="95000"/>
            </a:schemeClr>
          </a:solidFill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447675" lvl="1"/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reinas</a:t>
            </a:r>
            <a:endParaRPr lang="en-US" dirty="0"/>
          </a:p>
          <a:p>
            <a:pPr marL="893763" lvl="2"/>
            <a:r>
              <a:rPr lang="en-US" dirty="0"/>
              <a:t>Entrada </a:t>
            </a:r>
            <a:r>
              <a:rPr lang="en-US" dirty="0" err="1"/>
              <a:t>numérica</a:t>
            </a:r>
            <a:r>
              <a:rPr lang="en-US" dirty="0"/>
              <a:t> (4 – 100)</a:t>
            </a:r>
          </a:p>
          <a:p>
            <a:pPr marL="447675" lvl="1"/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solución</a:t>
            </a:r>
            <a:endParaRPr lang="en-US" dirty="0"/>
          </a:p>
          <a:p>
            <a:pPr marL="893763" lvl="2"/>
            <a:r>
              <a:rPr lang="en-US" dirty="0"/>
              <a:t>Entrada </a:t>
            </a:r>
            <a:r>
              <a:rPr lang="en-US" dirty="0" err="1"/>
              <a:t>numérica</a:t>
            </a:r>
            <a:r>
              <a:rPr lang="en-US" dirty="0"/>
              <a:t> (1 – nº </a:t>
            </a:r>
            <a:r>
              <a:rPr lang="en-US" dirty="0" err="1"/>
              <a:t>soluciones</a:t>
            </a:r>
            <a:r>
              <a:rPr lang="en-US" dirty="0"/>
              <a:t>)</a:t>
            </a:r>
          </a:p>
          <a:p>
            <a:pPr lvl="2"/>
            <a:endParaRPr lang="en-U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63E7CFA-B69D-4361-B411-E4920C8CCB7A}"/>
              </a:ext>
            </a:extLst>
          </p:cNvPr>
          <p:cNvSpPr/>
          <p:nvPr/>
        </p:nvSpPr>
        <p:spPr>
          <a:xfrm>
            <a:off x="0" y="0"/>
            <a:ext cx="9144000" cy="12204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2C82855-3B4D-4517-B341-6903991EDD57}"/>
              </a:ext>
            </a:extLst>
          </p:cNvPr>
          <p:cNvSpPr txBox="1">
            <a:spLocks/>
          </p:cNvSpPr>
          <p:nvPr/>
        </p:nvSpPr>
        <p:spPr>
          <a:xfrm>
            <a:off x="871104" y="12997"/>
            <a:ext cx="7420599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Diseño</a:t>
            </a:r>
            <a:r>
              <a:rPr lang="en-US" sz="4800" b="1" dirty="0">
                <a:solidFill>
                  <a:schemeClr val="bg1"/>
                </a:solidFill>
                <a:latin typeface="Arial Black" panose="020B0A04020102020204" pitchFamily="34" charset="0"/>
              </a:rPr>
              <a:t> de la </a:t>
            </a:r>
            <a:r>
              <a:rPr lang="en-US" sz="48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interfaz</a:t>
            </a:r>
            <a:endParaRPr lang="es-ES" sz="4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F8EC11D6-305A-493F-82D7-0FF455BD9F1A}"/>
              </a:ext>
            </a:extLst>
          </p:cNvPr>
          <p:cNvSpPr txBox="1">
            <a:spLocks/>
          </p:cNvSpPr>
          <p:nvPr/>
        </p:nvSpPr>
        <p:spPr>
          <a:xfrm>
            <a:off x="2569210" y="4091305"/>
            <a:ext cx="5853430" cy="1994535"/>
          </a:xfrm>
          <a:prstGeom prst="rect">
            <a:avLst/>
          </a:prstGeom>
          <a:solidFill>
            <a:srgbClr val="F2F2F2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ES" sz="3600" dirty="0"/>
          </a:p>
          <a:p>
            <a:pPr marL="447675" lvl="1"/>
            <a:r>
              <a:rPr lang="es-ES" dirty="0"/>
              <a:t>Calcular solución</a:t>
            </a:r>
          </a:p>
          <a:p>
            <a:pPr marL="893763" lvl="2"/>
            <a:r>
              <a:rPr lang="es-ES" dirty="0"/>
              <a:t>Calcula solución indicada</a:t>
            </a:r>
          </a:p>
          <a:p>
            <a:pPr marL="447675" lvl="1"/>
            <a:r>
              <a:rPr lang="es-ES" dirty="0"/>
              <a:t>Siguiente solución</a:t>
            </a:r>
          </a:p>
          <a:p>
            <a:pPr marL="893763" lvl="2"/>
            <a:r>
              <a:rPr lang="es-ES" dirty="0"/>
              <a:t>Muestra siguiente solución posible (si existe)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13EC9F0-D308-4B61-B09F-7FCCC53D6D9A}"/>
              </a:ext>
            </a:extLst>
          </p:cNvPr>
          <p:cNvSpPr/>
          <p:nvPr/>
        </p:nvSpPr>
        <p:spPr>
          <a:xfrm>
            <a:off x="474853" y="1840992"/>
            <a:ext cx="5243195" cy="3988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Parámetros</a:t>
            </a:r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6F6B72-A5D4-4588-8BAE-FBACA0D34EC3}"/>
              </a:ext>
            </a:extLst>
          </p:cNvPr>
          <p:cNvSpPr/>
          <p:nvPr/>
        </p:nvSpPr>
        <p:spPr>
          <a:xfrm>
            <a:off x="2641600" y="4167776"/>
            <a:ext cx="5709919" cy="3988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Botones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8780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9C5549FE-4678-469A-9C37-7597FAC66543}"/>
              </a:ext>
            </a:extLst>
          </p:cNvPr>
          <p:cNvSpPr/>
          <p:nvPr/>
        </p:nvSpPr>
        <p:spPr>
          <a:xfrm>
            <a:off x="-4920" y="0"/>
            <a:ext cx="3490722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D6926F-F67F-491E-856C-F9CD326C3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2638044"/>
            <a:ext cx="2522980" cy="341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i="1" dirty="0" err="1"/>
              <a:t>make_chess_board</a:t>
            </a:r>
            <a:r>
              <a:rPr lang="en-US" sz="1700" i="1" dirty="0"/>
              <a:t>/2</a:t>
            </a:r>
          </a:p>
          <a:p>
            <a:pPr marL="355600" lvl="1"/>
            <a:r>
              <a:rPr lang="en-US" sz="1700" dirty="0" err="1"/>
              <a:t>Crea</a:t>
            </a:r>
            <a:r>
              <a:rPr lang="en-US" sz="1700" dirty="0"/>
              <a:t> </a:t>
            </a:r>
            <a:r>
              <a:rPr lang="en-US" sz="1700" dirty="0" err="1"/>
              <a:t>objeto</a:t>
            </a:r>
            <a:r>
              <a:rPr lang="en-US" sz="1700" dirty="0"/>
              <a:t> </a:t>
            </a:r>
            <a:r>
              <a:rPr lang="en-US" sz="1700" dirty="0" err="1"/>
              <a:t>gráfico</a:t>
            </a:r>
            <a:r>
              <a:rPr lang="en-US" sz="1700" dirty="0"/>
              <a:t> </a:t>
            </a:r>
            <a:r>
              <a:rPr lang="en-US" sz="1700" i="1" dirty="0"/>
              <a:t>XPCE</a:t>
            </a:r>
            <a:endParaRPr lang="es-ES" sz="1700" dirty="0"/>
          </a:p>
          <a:p>
            <a:pPr marL="0" indent="0">
              <a:buNone/>
            </a:pPr>
            <a:r>
              <a:rPr lang="es-ES" sz="1700" i="1" dirty="0" err="1"/>
              <a:t>between</a:t>
            </a:r>
            <a:r>
              <a:rPr lang="es-ES" sz="1700" i="1" dirty="0"/>
              <a:t>/3</a:t>
            </a:r>
          </a:p>
          <a:p>
            <a:pPr marL="355600" lvl="1"/>
            <a:r>
              <a:rPr lang="es-ES" sz="1700" dirty="0"/>
              <a:t>Iteraciones ejes X e Y</a:t>
            </a:r>
          </a:p>
          <a:p>
            <a:pPr marL="0" indent="0">
              <a:buNone/>
            </a:pPr>
            <a:r>
              <a:rPr lang="es-ES" sz="1700" i="1" dirty="0" err="1"/>
              <a:t>square_colour</a:t>
            </a:r>
            <a:r>
              <a:rPr lang="es-ES" sz="1700" i="1" dirty="0"/>
              <a:t>/3</a:t>
            </a:r>
          </a:p>
          <a:p>
            <a:pPr marL="447675" lvl="1" indent="-263525"/>
            <a:r>
              <a:rPr lang="es-ES" sz="1700" dirty="0"/>
              <a:t>Asigna color a casillas</a:t>
            </a:r>
            <a:endParaRPr lang="en-US" sz="17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0D10A3-E0D7-482A-841C-C98990363E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125"/>
          <a:stretch/>
        </p:blipFill>
        <p:spPr>
          <a:xfrm>
            <a:off x="3716649" y="1725818"/>
            <a:ext cx="5208102" cy="36095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234DA72-5A62-4538-9724-16A384B782E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0" y="643467"/>
            <a:ext cx="1711960" cy="17223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06B42EC-00A4-4DC7-9BEA-164774685CD5}"/>
              </a:ext>
            </a:extLst>
          </p:cNvPr>
          <p:cNvSpPr/>
          <p:nvPr/>
        </p:nvSpPr>
        <p:spPr>
          <a:xfrm>
            <a:off x="0" y="0"/>
            <a:ext cx="3490722" cy="18337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48C67CE-D4F9-4B61-823D-6BCFCC2CF931}"/>
              </a:ext>
            </a:extLst>
          </p:cNvPr>
          <p:cNvSpPr txBox="1">
            <a:spLocks/>
          </p:cNvSpPr>
          <p:nvPr/>
        </p:nvSpPr>
        <p:spPr>
          <a:xfrm>
            <a:off x="203199" y="643467"/>
            <a:ext cx="3074485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Dibujo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 del </a:t>
            </a:r>
            <a:r>
              <a:rPr lang="en-US" sz="3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tablero</a:t>
            </a:r>
            <a:endParaRPr lang="es-E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27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1558BDC-0052-4778-A067-8DF85CC5C715}"/>
              </a:ext>
            </a:extLst>
          </p:cNvPr>
          <p:cNvSpPr/>
          <p:nvPr/>
        </p:nvSpPr>
        <p:spPr>
          <a:xfrm>
            <a:off x="-4920" y="0"/>
            <a:ext cx="3490722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B5521CC-1A38-4357-A7EC-B4D1A923D260}"/>
              </a:ext>
            </a:extLst>
          </p:cNvPr>
          <p:cNvSpPr/>
          <p:nvPr/>
        </p:nvSpPr>
        <p:spPr>
          <a:xfrm>
            <a:off x="0" y="0"/>
            <a:ext cx="3490722" cy="18337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B2DD4D8-D75C-417A-A2C6-3C932665F839}"/>
              </a:ext>
            </a:extLst>
          </p:cNvPr>
          <p:cNvSpPr txBox="1">
            <a:spLocks/>
          </p:cNvSpPr>
          <p:nvPr/>
        </p:nvSpPr>
        <p:spPr>
          <a:xfrm>
            <a:off x="203199" y="643467"/>
            <a:ext cx="3074485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Dibujo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 de la </a:t>
            </a:r>
            <a:r>
              <a:rPr lang="en-US" sz="3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solución</a:t>
            </a:r>
            <a:endParaRPr lang="es-E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DC67A-291A-4B3E-A840-356D56170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199" y="2477177"/>
            <a:ext cx="2684484" cy="341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i="1" dirty="0"/>
              <a:t>put/2</a:t>
            </a:r>
          </a:p>
          <a:p>
            <a:pPr marL="354013" lvl="1"/>
            <a:r>
              <a:rPr lang="es-ES" sz="1600" dirty="0"/>
              <a:t>Coloca reina en la casilla correspondiente</a:t>
            </a:r>
          </a:p>
          <a:p>
            <a:pPr marL="0" indent="0">
              <a:buNone/>
            </a:pPr>
            <a:r>
              <a:rPr lang="es-ES" sz="1600" i="1" dirty="0"/>
              <a:t>pinta/1</a:t>
            </a:r>
          </a:p>
          <a:p>
            <a:pPr marL="354013" lvl="1"/>
            <a:r>
              <a:rPr lang="es-ES" sz="1600" dirty="0"/>
              <a:t>Pinta solución en el tablero</a:t>
            </a:r>
          </a:p>
          <a:p>
            <a:pPr marL="0" indent="0">
              <a:buNone/>
            </a:pPr>
            <a:r>
              <a:rPr lang="es-ES" sz="1600" i="1" dirty="0" err="1"/>
              <a:t>showSolution</a:t>
            </a:r>
            <a:r>
              <a:rPr lang="es-ES" sz="1600" i="1" dirty="0"/>
              <a:t>(</a:t>
            </a:r>
            <a:r>
              <a:rPr lang="es-ES" sz="1600" i="1" dirty="0" err="1"/>
              <a:t>Nreinas</a:t>
            </a:r>
            <a:r>
              <a:rPr lang="es-ES" sz="1600" i="1" dirty="0"/>
              <a:t>, Sol)</a:t>
            </a:r>
          </a:p>
          <a:p>
            <a:pPr marL="354013" lvl="1"/>
            <a:r>
              <a:rPr lang="es-ES" sz="1600" dirty="0"/>
              <a:t>Elimina tablero antiguo</a:t>
            </a:r>
          </a:p>
          <a:p>
            <a:pPr marL="354013" lvl="1"/>
            <a:r>
              <a:rPr lang="es-ES" sz="1600" dirty="0"/>
              <a:t>Dibuja nuevo tablero</a:t>
            </a:r>
          </a:p>
          <a:p>
            <a:pPr marL="354013" lvl="1"/>
            <a:r>
              <a:rPr lang="es-ES" sz="1600" dirty="0"/>
              <a:t>Coloca reinas según </a:t>
            </a:r>
            <a:r>
              <a:rPr lang="es-ES" sz="1600" i="1" dirty="0"/>
              <a:t>Sol</a:t>
            </a:r>
            <a:endParaRPr lang="es-ES" sz="16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15AAAF6-A57D-4AFD-8074-97BB24AD99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200"/>
          <a:stretch/>
        </p:blipFill>
        <p:spPr>
          <a:xfrm>
            <a:off x="3812901" y="1744742"/>
            <a:ext cx="5010002" cy="336851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348D873-58E1-47C6-93F8-8F8CF9BFDD8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514" y="383254"/>
            <a:ext cx="1711960" cy="17203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8657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DCF24676-39E1-4E20-8089-AF5257519D19}"/>
              </a:ext>
            </a:extLst>
          </p:cNvPr>
          <p:cNvSpPr/>
          <p:nvPr/>
        </p:nvSpPr>
        <p:spPr>
          <a:xfrm>
            <a:off x="-4920" y="0"/>
            <a:ext cx="3490722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6841137-70EB-4AAA-82FE-FF641AD2D5B2}"/>
              </a:ext>
            </a:extLst>
          </p:cNvPr>
          <p:cNvSpPr/>
          <p:nvPr/>
        </p:nvSpPr>
        <p:spPr>
          <a:xfrm>
            <a:off x="0" y="0"/>
            <a:ext cx="3490722" cy="18337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648F784-362C-460F-9A4F-053D5FDE13B7}"/>
              </a:ext>
            </a:extLst>
          </p:cNvPr>
          <p:cNvSpPr txBox="1">
            <a:spLocks/>
          </p:cNvSpPr>
          <p:nvPr/>
        </p:nvSpPr>
        <p:spPr>
          <a:xfrm>
            <a:off x="203199" y="643467"/>
            <a:ext cx="3074485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Ventana de la </a:t>
            </a:r>
            <a:r>
              <a:rPr lang="en-US" sz="3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solución</a:t>
            </a:r>
            <a:endParaRPr lang="es-E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FB58A1-73CE-4EE6-8538-9F43428CA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97" y="2354815"/>
            <a:ext cx="2795083" cy="341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i="1" dirty="0"/>
              <a:t>resolver/2</a:t>
            </a:r>
          </a:p>
          <a:p>
            <a:pPr marL="354013" lvl="1"/>
            <a:r>
              <a:rPr lang="es-ES" sz="1700" dirty="0"/>
              <a:t>Comprueba si ya existe ventana de resultados</a:t>
            </a:r>
          </a:p>
          <a:p>
            <a:pPr marL="354013" lvl="1"/>
            <a:r>
              <a:rPr lang="es-ES" sz="1700" dirty="0"/>
              <a:t>Genera lista con soluciones</a:t>
            </a:r>
          </a:p>
          <a:p>
            <a:pPr marL="354013" lvl="1"/>
            <a:r>
              <a:rPr lang="es-ES" sz="1700" dirty="0"/>
              <a:t>Muestra solución elegida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2968A4-B249-41D8-A7F5-79971C321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240" y="242830"/>
            <a:ext cx="5406336" cy="368927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D77FEF9-C37A-4065-9410-9CD1AD2C7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245" y="4827845"/>
            <a:ext cx="5401306" cy="151420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0D8CE2D-D081-4E22-BE85-801C9567333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853" y="3875081"/>
            <a:ext cx="1729698" cy="1952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8950AD2-9D3D-46DE-9E78-D7986DEEF4CB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548" y="4062626"/>
            <a:ext cx="3686867" cy="5664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0342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B836C2C-3DD8-4EB6-A963-5E601E1D4659}"/>
              </a:ext>
            </a:extLst>
          </p:cNvPr>
          <p:cNvSpPr/>
          <p:nvPr/>
        </p:nvSpPr>
        <p:spPr>
          <a:xfrm>
            <a:off x="-4920" y="0"/>
            <a:ext cx="3490722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36B094-C7F9-46BC-A6E4-832088405D52}"/>
              </a:ext>
            </a:extLst>
          </p:cNvPr>
          <p:cNvSpPr/>
          <p:nvPr/>
        </p:nvSpPr>
        <p:spPr>
          <a:xfrm>
            <a:off x="0" y="0"/>
            <a:ext cx="3490722" cy="18337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1CA4DF7-AD8B-4FB0-9284-B72801AFE1E8}"/>
              </a:ext>
            </a:extLst>
          </p:cNvPr>
          <p:cNvSpPr txBox="1">
            <a:spLocks/>
          </p:cNvSpPr>
          <p:nvPr/>
        </p:nvSpPr>
        <p:spPr>
          <a:xfrm>
            <a:off x="203199" y="643467"/>
            <a:ext cx="3074485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Ventana de control</a:t>
            </a:r>
            <a:endParaRPr lang="es-E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680174-E56F-44BA-BFE4-D683271B3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2638044"/>
            <a:ext cx="2708468" cy="341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 err="1"/>
              <a:t>n_reinas</a:t>
            </a:r>
            <a:r>
              <a:rPr lang="en-US" sz="1800" i="1" dirty="0"/>
              <a:t>/0</a:t>
            </a:r>
          </a:p>
          <a:p>
            <a:pPr marL="354013" lvl="1"/>
            <a:r>
              <a:rPr lang="en-US" sz="1800" dirty="0" err="1"/>
              <a:t>Crea</a:t>
            </a:r>
            <a:r>
              <a:rPr lang="en-US" sz="1800" dirty="0"/>
              <a:t> </a:t>
            </a:r>
            <a:r>
              <a:rPr lang="en-US" sz="1800" dirty="0" err="1"/>
              <a:t>ventana</a:t>
            </a:r>
            <a:r>
              <a:rPr lang="en-US" sz="1800" dirty="0"/>
              <a:t> principal</a:t>
            </a:r>
            <a:endParaRPr lang="es-ES"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5766A1-0202-4877-B966-774448FFF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484" y="553110"/>
            <a:ext cx="5388864" cy="379274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17658A3-2196-4221-9A68-5EA2C486FF0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307" y="4680816"/>
            <a:ext cx="3163077" cy="16240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3177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742D524-6BD4-43AB-99FD-E6B592B62395}"/>
              </a:ext>
            </a:extLst>
          </p:cNvPr>
          <p:cNvSpPr/>
          <p:nvPr/>
        </p:nvSpPr>
        <p:spPr>
          <a:xfrm>
            <a:off x="-4920" y="0"/>
            <a:ext cx="3490722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200EA4C-7A2D-4B7D-AD2D-94D0680EC086}"/>
              </a:ext>
            </a:extLst>
          </p:cNvPr>
          <p:cNvSpPr/>
          <p:nvPr/>
        </p:nvSpPr>
        <p:spPr>
          <a:xfrm>
            <a:off x="0" y="0"/>
            <a:ext cx="3490722" cy="18337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7B4421F-D880-4250-A7F3-879916A2402B}"/>
              </a:ext>
            </a:extLst>
          </p:cNvPr>
          <p:cNvSpPr txBox="1">
            <a:spLocks/>
          </p:cNvSpPr>
          <p:nvPr/>
        </p:nvSpPr>
        <p:spPr>
          <a:xfrm>
            <a:off x="203199" y="643467"/>
            <a:ext cx="3074485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Mejora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</a:p>
          <a:p>
            <a:pPr algn="ctr"/>
            <a:r>
              <a:rPr lang="en-US" sz="2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Carga</a:t>
            </a:r>
            <a:r>
              <a:rPr lang="en-US" sz="2200" b="1" dirty="0">
                <a:solidFill>
                  <a:schemeClr val="bg1"/>
                </a:solidFill>
                <a:latin typeface="Arial Black" panose="020B0A04020102020204" pitchFamily="34" charset="0"/>
              </a:rPr>
              <a:t> de </a:t>
            </a:r>
            <a:r>
              <a:rPr lang="en-US" sz="2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imágenes</a:t>
            </a:r>
            <a:endParaRPr lang="es-ES" sz="2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D6FD5E-6C75-4ABB-A443-9F461DE5F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69" y="2318150"/>
            <a:ext cx="3145043" cy="341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dirty="0" err="1"/>
              <a:t>Ejemplo</a:t>
            </a:r>
            <a:r>
              <a:rPr lang="en-US" sz="1600" dirty="0"/>
              <a:t> para </a:t>
            </a:r>
            <a:r>
              <a:rPr lang="en-US" sz="1600" i="1" dirty="0" err="1"/>
              <a:t>gnuchessx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 err="1"/>
              <a:t>square_image</a:t>
            </a:r>
            <a:r>
              <a:rPr lang="en-US" sz="1600" i="1" dirty="0"/>
              <a:t>/4</a:t>
            </a:r>
          </a:p>
          <a:p>
            <a:pPr marL="354013" lvl="1" indent="-260350"/>
            <a:r>
              <a:rPr lang="en-US" sz="1600" dirty="0" err="1"/>
              <a:t>Obtiene</a:t>
            </a:r>
            <a:r>
              <a:rPr lang="en-US" sz="1600" dirty="0"/>
              <a:t> </a:t>
            </a:r>
            <a:r>
              <a:rPr lang="en-US" sz="1600" dirty="0" err="1"/>
              <a:t>objeto</a:t>
            </a:r>
            <a:r>
              <a:rPr lang="en-US" sz="1600" dirty="0"/>
              <a:t> Bitmap</a:t>
            </a:r>
          </a:p>
          <a:p>
            <a:pPr marL="541338" lvl="2"/>
            <a:r>
              <a:rPr lang="en-US" sz="1600" dirty="0" err="1"/>
              <a:t>Pieza</a:t>
            </a:r>
            <a:r>
              <a:rPr lang="en-US" sz="1600" dirty="0"/>
              <a:t> de </a:t>
            </a:r>
            <a:r>
              <a:rPr lang="en-US" sz="1600" dirty="0" err="1"/>
              <a:t>ajedrez</a:t>
            </a:r>
            <a:endParaRPr lang="en-US" sz="1600" dirty="0"/>
          </a:p>
          <a:p>
            <a:pPr marL="541338" lvl="2"/>
            <a:r>
              <a:rPr lang="en-US" sz="1600" dirty="0" err="1"/>
              <a:t>Cuadro</a:t>
            </a:r>
            <a:r>
              <a:rPr lang="en-US" sz="1600" dirty="0"/>
              <a:t> del </a:t>
            </a:r>
            <a:r>
              <a:rPr lang="en-US" sz="1600" dirty="0" err="1"/>
              <a:t>tablero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Modificaciones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 para </a:t>
            </a:r>
            <a:r>
              <a:rPr lang="en-US" sz="1600" dirty="0" err="1">
                <a:sym typeface="Wingdings" panose="05000000000000000000" pitchFamily="2" charset="2"/>
              </a:rPr>
              <a:t>usar</a:t>
            </a:r>
            <a:r>
              <a:rPr lang="en-US" sz="1600" dirty="0">
                <a:sym typeface="Wingdings" panose="05000000000000000000" pitchFamily="2" charset="2"/>
              </a:rPr>
              <a:t> Bitmap</a:t>
            </a:r>
            <a:endParaRPr lang="en-US" sz="1600" dirty="0"/>
          </a:p>
          <a:p>
            <a:pPr marL="354013" lvl="1"/>
            <a:r>
              <a:rPr lang="en-US" sz="1600" i="1" dirty="0" err="1"/>
              <a:t>make_chess_board</a:t>
            </a:r>
            <a:r>
              <a:rPr lang="en-US" sz="1600" i="1" dirty="0"/>
              <a:t>/2</a:t>
            </a:r>
          </a:p>
          <a:p>
            <a:pPr marL="354013" lvl="1"/>
            <a:r>
              <a:rPr lang="en-US" sz="1600" i="1" dirty="0"/>
              <a:t>put/2</a:t>
            </a:r>
            <a:endParaRPr lang="es-ES" sz="16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375B5B-76AD-4528-8B00-B424F23828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478"/>
          <a:stretch/>
        </p:blipFill>
        <p:spPr>
          <a:xfrm>
            <a:off x="3732691" y="244335"/>
            <a:ext cx="5156201" cy="414763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F020040-CD9F-463C-AA88-D574BDCF1C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68" y="4438620"/>
            <a:ext cx="1901878" cy="22496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9645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207CC6-EAA1-4BFF-A48A-DECAD8972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B234A3DD-923D-4166-8B19-7DD58990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5193" y="-479"/>
            <a:ext cx="7101526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F6ACA5AC-3C5D-4994-B40F-FC8349E4D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9"/>
            <a:ext cx="6993732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299AE7-F873-4744-A1AC-6AACFEB8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3" y="2600324"/>
            <a:ext cx="4804315" cy="32779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DEMOSTRACIÓN</a:t>
            </a:r>
          </a:p>
        </p:txBody>
      </p:sp>
    </p:spTree>
    <p:extLst>
      <p:ext uri="{BB962C8B-B14F-4D97-AF65-F5344CB8AC3E}">
        <p14:creationId xmlns:p14="http://schemas.microsoft.com/office/powerpoint/2010/main" val="3791875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360</Words>
  <Application>Microsoft Office PowerPoint</Application>
  <PresentationFormat>Presentación en pantalla (4:3)</PresentationFormat>
  <Paragraphs>88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7</vt:i4>
      </vt:variant>
      <vt:variant>
        <vt:lpstr>Títulos de diapositiva</vt:lpstr>
      </vt:variant>
      <vt:variant>
        <vt:i4>13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Cambria Math</vt:lpstr>
      <vt:lpstr>Consolas</vt:lpstr>
      <vt:lpstr>Tema de Office</vt:lpstr>
      <vt:lpstr>Office Theme</vt:lpstr>
      <vt:lpstr>1_Office Theme</vt:lpstr>
      <vt:lpstr>2_Office Theme</vt:lpstr>
      <vt:lpstr>3_Office Theme</vt:lpstr>
      <vt:lpstr>4_Office Theme</vt:lpstr>
      <vt:lpstr>5_Office Theme</vt:lpstr>
      <vt:lpstr>Desarrollo de una interfaz gráfica para el problema de las cuatro reinas con SWI-Prolog</vt:lpstr>
      <vt:lpstr>Definición del problema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DEMOSTRACIÓN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una interfaz gráfica para el problema de las cuatro reinas con SWI-Prolog</dc:title>
  <dc:creator>Diego Pedregal</dc:creator>
  <cp:lastModifiedBy>ALBERTO VELASCO MATA</cp:lastModifiedBy>
  <cp:revision>11</cp:revision>
  <dcterms:created xsi:type="dcterms:W3CDTF">2019-04-26T18:30:28Z</dcterms:created>
  <dcterms:modified xsi:type="dcterms:W3CDTF">2019-04-26T20:33:38Z</dcterms:modified>
</cp:coreProperties>
</file>